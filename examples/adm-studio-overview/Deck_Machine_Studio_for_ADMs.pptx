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4"/>
  </p:sldMasterIdLst>
  <p:notesMasterIdLst>
    <p:notesMasterId r:id="rId5"/>
  </p:notesMasterIdLst>
  <p:sldIdLst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4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5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6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7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/>
        </p:nvSpPr>
        <p:spPr>
          <a:xfrm>
            <a:off x="548640" y="548640"/>
            <a:ext cx="237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0B0C"/>
                </a:solidFill>
                <a:latin typeface="Arial"/>
                <a:ea typeface="Arial"/>
                <a:cs typeface="Arial"/>
                <a:sym typeface="Arial"/>
              </a:rPr>
              <a:t>Today's</a:t>
            </a:r>
            <a:br>
              <a:rPr b="1" i="0" lang="en-US" sz="3600" u="none" cap="none" strike="noStrike">
                <a:solidFill>
                  <a:srgbClr val="0B0B0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 cap="none" strike="noStrike">
                <a:solidFill>
                  <a:srgbClr val="0B0B0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3017520" y="548640"/>
            <a:ext cx="18300" cy="576060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3337560" y="64008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3337560" y="722430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3337560" y="1340249"/>
            <a:ext cx="8305500" cy="630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3337560" y="1449977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3337560" y="1532327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3337560" y="2150146"/>
            <a:ext cx="8305500" cy="630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3337560" y="225987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3337560" y="2342224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3337560" y="2960043"/>
            <a:ext cx="8305500" cy="630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337560" y="3069771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3337560" y="3152121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3337560" y="3769940"/>
            <a:ext cx="8305500" cy="630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337560" y="3879668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337560" y="3962018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3337560" y="4579837"/>
            <a:ext cx="8305500" cy="630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337560" y="4689565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3337560" y="4771915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3337560" y="5389734"/>
            <a:ext cx="8305500" cy="630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548640" y="635508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9E99"/>
                </a:solidFill>
                <a:latin typeface="Arial"/>
                <a:ea typeface="Arial"/>
                <a:cs typeface="Arial"/>
                <a:sym typeface="Arial"/>
              </a:rPr>
              <a:t>Cursor 101 Workshop  ·  2026</a:t>
            </a:r>
            <a:endParaRPr/>
          </a:p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3917775" y="1449975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2" type="body"/>
          </p:nvPr>
        </p:nvSpPr>
        <p:spPr>
          <a:xfrm>
            <a:off x="3917775" y="2260450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3" type="body"/>
          </p:nvPr>
        </p:nvSpPr>
        <p:spPr>
          <a:xfrm>
            <a:off x="3917775" y="3050175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4" type="body"/>
          </p:nvPr>
        </p:nvSpPr>
        <p:spPr>
          <a:xfrm>
            <a:off x="3917775" y="660250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5" type="body"/>
          </p:nvPr>
        </p:nvSpPr>
        <p:spPr>
          <a:xfrm>
            <a:off x="3917614" y="4627687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6" type="body"/>
          </p:nvPr>
        </p:nvSpPr>
        <p:spPr>
          <a:xfrm>
            <a:off x="3917614" y="5438162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7" type="body"/>
          </p:nvPr>
        </p:nvSpPr>
        <p:spPr>
          <a:xfrm>
            <a:off x="3917614" y="3837962"/>
            <a:ext cx="77253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8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5" name="Google Shape;85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6" name="Google Shape;8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9" title="LOCKUP_HORIZONTAL_25D_LIGH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32" y="6236199"/>
            <a:ext cx="997770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3" name="Google Shape;9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6" name="Google Shape;9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0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p11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9" name="Google Shape;109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12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13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Cover — Warm Pastoral">
  <p:cSld name="Art Cover — Warm Pastor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48640" y="365760"/>
            <a:ext cx="45720" cy="1097280"/>
          </a:xfrm>
          <a:prstGeom prst="rect">
            <a:avLst/>
          </a:prstGeom>
          <a:solidFill>
            <a:srgbClr val="E7E6E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58368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8C0B8"/>
                </a:solidFill>
                <a:latin typeface="Arial"/>
                <a:ea typeface="Arial"/>
                <a:cs typeface="Arial"/>
                <a:sym typeface="Arial"/>
              </a:rPr>
              <a:t>CURSOR</a:t>
            </a:r>
            <a:endParaRPr/>
          </a:p>
        </p:txBody>
      </p:sp>
      <p:sp>
        <p:nvSpPr>
          <p:cNvPr id="138" name="Google Shape;138;p16"/>
          <p:cNvSpPr txBox="1"/>
          <p:nvPr>
            <p:ph type="title"/>
          </p:nvPr>
        </p:nvSpPr>
        <p:spPr>
          <a:xfrm>
            <a:off x="548640" y="9144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"/>
              <a:buNone/>
              <a:defRPr b="1" i="0" sz="6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6"/>
          <p:cNvSpPr/>
          <p:nvPr/>
        </p:nvSpPr>
        <p:spPr>
          <a:xfrm>
            <a:off x="548640" y="3154680"/>
            <a:ext cx="6858000" cy="12700"/>
          </a:xfrm>
          <a:prstGeom prst="rect">
            <a:avLst/>
          </a:prstGeom>
          <a:solidFill>
            <a:srgbClr val="C8C0B8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548640" y="32918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rgbClr val="D4CEC8"/>
              </a:buClr>
              <a:buSzPts val="2200"/>
              <a:buChar char="•"/>
              <a:defRPr b="0" i="0" sz="2200">
                <a:solidFill>
                  <a:srgbClr val="D4CEC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6"/>
          <p:cNvSpPr txBox="1"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A89E94"/>
                </a:solidFill>
                <a:latin typeface="Arial"/>
                <a:ea typeface="Arial"/>
                <a:cs typeface="Arial"/>
                <a:sym typeface="Arial"/>
              </a:rPr>
              <a:t>Cursor Enablement  ·  2026</a:t>
            </a:r>
            <a:endParaRPr/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title="LOCKUP_HORIZONTAL_25D_D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Section — Mountain Panorama">
  <p:cSld name="Art Section — Mountain Panoram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5294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E7E6E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8" name="Google Shape;148;p17"/>
          <p:cNvSpPr txBox="1"/>
          <p:nvPr>
            <p:ph type="title"/>
          </p:nvPr>
        </p:nvSpPr>
        <p:spPr>
          <a:xfrm>
            <a:off x="777240" y="3291840"/>
            <a:ext cx="8000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1" i="0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9" name="Google Shape;149;p17" title="LOCKUP_HORIZONTAL_25D_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Section — Alpine Lake">
  <p:cSld name="Art Section — Alpine Lak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5294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E7E6E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4" name="Google Shape;154;p18"/>
          <p:cNvSpPr txBox="1"/>
          <p:nvPr>
            <p:ph type="title"/>
          </p:nvPr>
        </p:nvSpPr>
        <p:spPr>
          <a:xfrm>
            <a:off x="777240" y="3291840"/>
            <a:ext cx="8000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1" i="0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5" name="Google Shape;155;p18" title="LOCKUP_HORIZONTAL_25D_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Section — Rocky Coast">
  <p:cSld name="Art Section — Rocky Coast">
    <p:bg>
      <p:bgPr>
        <a:solidFill>
          <a:srgbClr val="728FA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E7E6E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0" name="Google Shape;160;p19"/>
          <p:cNvSpPr txBox="1"/>
          <p:nvPr>
            <p:ph type="title"/>
          </p:nvPr>
        </p:nvSpPr>
        <p:spPr>
          <a:xfrm>
            <a:off x="777240" y="3291840"/>
            <a:ext cx="8000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1" i="0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19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Section — Pastoral Mist">
  <p:cSld name="Art Section — Pastoral Mist">
    <p:bg>
      <p:bgPr>
        <a:solidFill>
          <a:srgbClr val="B4AF9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5294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E7E6E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6" name="Google Shape;166;p20"/>
          <p:cNvSpPr txBox="1"/>
          <p:nvPr>
            <p:ph type="title"/>
          </p:nvPr>
        </p:nvSpPr>
        <p:spPr>
          <a:xfrm>
            <a:off x="777240" y="3291840"/>
            <a:ext cx="8000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  <a:defRPr b="1" i="0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7" name="Google Shape;167;p20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Closing — Golden Field">
  <p:cSld name="Art Closing — Golden Field">
    <p:bg>
      <p:bgPr>
        <a:solidFill>
          <a:srgbClr val="3E2E1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548640" y="365760"/>
            <a:ext cx="45720" cy="1097280"/>
          </a:xfrm>
          <a:prstGeom prst="rect">
            <a:avLst/>
          </a:prstGeom>
          <a:solidFill>
            <a:srgbClr val="E7E6E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658368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8C0A8"/>
                </a:solidFill>
                <a:latin typeface="Arial"/>
                <a:ea typeface="Arial"/>
                <a:cs typeface="Arial"/>
                <a:sym typeface="Arial"/>
              </a:rPr>
              <a:t>CURSOR</a:t>
            </a:r>
            <a:endParaRPr/>
          </a:p>
        </p:txBody>
      </p:sp>
      <p:sp>
        <p:nvSpPr>
          <p:cNvPr id="172" name="Google Shape;172;p21"/>
          <p:cNvSpPr txBox="1"/>
          <p:nvPr>
            <p:ph type="title"/>
          </p:nvPr>
        </p:nvSpPr>
        <p:spPr>
          <a:xfrm>
            <a:off x="548640" y="9144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"/>
              <a:buNone/>
              <a:defRPr b="1" i="0" sz="6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1"/>
          <p:cNvSpPr/>
          <p:nvPr/>
        </p:nvSpPr>
        <p:spPr>
          <a:xfrm>
            <a:off x="548640" y="3154680"/>
            <a:ext cx="6858000" cy="12700"/>
          </a:xfrm>
          <a:prstGeom prst="rect">
            <a:avLst/>
          </a:prstGeom>
          <a:solidFill>
            <a:srgbClr val="C8BC90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548640" y="32918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rgbClr val="D4CEC0"/>
              </a:buClr>
              <a:buSzPts val="2200"/>
              <a:buChar char="•"/>
              <a:defRPr b="0" i="0" sz="2200">
                <a:solidFill>
                  <a:srgbClr val="D4C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1"/>
          <p:cNvSpPr txBox="1"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A89E7A"/>
                </a:solidFill>
                <a:latin typeface="Arial"/>
                <a:ea typeface="Arial"/>
                <a:cs typeface="Arial"/>
                <a:sym typeface="Arial"/>
              </a:rPr>
              <a:t>Cursor Enablement  ·  2026</a:t>
            </a:r>
            <a:endParaRPr/>
          </a:p>
        </p:txBody>
      </p:sp>
      <p:pic>
        <p:nvPicPr>
          <p:cNvPr id="176" name="Google Shape;176;p21" title="LOCKUP_HORIZONTAL_25D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548640" y="3291840"/>
            <a:ext cx="6858000" cy="43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Package a Cursor leave-behind your customer can run</a:t>
            </a:r>
          </a:p>
        </p:txBody>
      </p:sp>
      <p:sp>
        <p:nvSpPr>
          <p:cNvPr id="182" name="Google Shape;182;p22"/>
          <p:cNvSpPr/>
          <p:nvPr/>
        </p:nvSpPr>
        <p:spPr>
          <a:xfrm>
            <a:off x="548640" y="365760"/>
            <a:ext cx="36576" cy="109728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658368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CURSOR</a:t>
            </a:r>
          </a:p>
        </p:txBody>
      </p:sp>
      <p:sp>
        <p:nvSpPr>
          <p:cNvPr id="184" name="Google Shape;184;p22"/>
          <p:cNvSpPr txBox="1"/>
          <p:nvPr/>
        </p:nvSpPr>
        <p:spPr>
          <a:xfrm>
            <a:off x="548640" y="914400"/>
            <a:ext cx="7315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ADM</a:t>
            </a:r>
          </a:p>
        </p:txBody>
      </p:sp>
      <p:sp>
        <p:nvSpPr>
          <p:cNvPr id="185" name="Google Shape;185;p22"/>
          <p:cNvSpPr/>
          <p:nvPr/>
        </p:nvSpPr>
        <p:spPr>
          <a:xfrm>
            <a:off x="548640" y="3154680"/>
            <a:ext cx="6858000" cy="12700"/>
          </a:xfrm>
          <a:prstGeom prst="rect">
            <a:avLst/>
          </a:prstGeom>
          <a:solidFill>
            <a:srgbClr val="8080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Deck Machine Studio  ·  ADM enablement  ·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1" name="Google Shape;191;p23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This session is for you if:</a:t>
            </a:r>
          </a:p>
        </p:txBody>
      </p:sp>
      <p:sp>
        <p:nvSpPr>
          <p:cNvPr id="192" name="Google Shape;192;p23"/>
          <p:cNvSpPr/>
          <p:nvPr/>
        </p:nvSpPr>
        <p:spPr>
          <a:xfrm>
            <a:off x="548640" y="1143000"/>
            <a:ext cx="11094415" cy="635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548640" y="1435608"/>
            <a:ext cx="73152" cy="73152"/>
          </a:xfrm>
          <a:prstGeom prst="rect">
            <a:avLst/>
          </a:prstGeom>
          <a:solidFill>
            <a:srgbClr val="0B0B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768096" y="1325880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You package customer demos and need a branded Cursor repo, not another slide template.</a:t>
            </a:r>
          </a:p>
        </p:txBody>
      </p:sp>
      <p:sp>
        <p:nvSpPr>
          <p:cNvPr id="195" name="Google Shape;195;p23"/>
          <p:cNvSpPr/>
          <p:nvPr/>
        </p:nvSpPr>
        <p:spPr>
          <a:xfrm>
            <a:off x="548640" y="2395728"/>
            <a:ext cx="73152" cy="73152"/>
          </a:xfrm>
          <a:prstGeom prst="rect">
            <a:avLst/>
          </a:prstGeom>
          <a:solidFill>
            <a:srgbClr val="0B0B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768096" y="2286000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You want a repeatable room script: brief → PPTX → Lab 4 → handoff.</a:t>
            </a:r>
          </a:p>
        </p:txBody>
      </p:sp>
      <p:sp>
        <p:nvSpPr>
          <p:cNvPr id="197" name="Google Shape;197;p23"/>
          <p:cNvSpPr/>
          <p:nvPr/>
        </p:nvSpPr>
        <p:spPr>
          <a:xfrm>
            <a:off x="548640" y="3355848"/>
            <a:ext cx="73152" cy="73152"/>
          </a:xfrm>
          <a:prstGeom prst="rect">
            <a:avLst/>
          </a:prstGeom>
          <a:solidFill>
            <a:srgbClr val="0B0B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768096" y="3246120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You teach Rules, Skills, and Agents through one concrete factory — decks are the proof.</a:t>
            </a:r>
          </a:p>
        </p:txBody>
      </p:sp>
      <p:sp>
        <p:nvSpPr>
          <p:cNvPr id="199" name="Google Shape;199;p23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Deck Machine Studio  ·  ADM enablement  ·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4" name="Google Shape;204;p24"/>
          <p:cNvSpPr txBox="1"/>
          <p:nvPr/>
        </p:nvSpPr>
        <p:spPr>
          <a:xfrm>
            <a:off x="548640" y="54864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Today's</a:t>
            </a:r>
          </a:p>
          <a:p>
            <a:r>
              <a:t>Agenda</a:t>
            </a:r>
          </a:p>
        </p:txBody>
      </p:sp>
      <p:sp>
        <p:nvSpPr>
          <p:cNvPr id="205" name="Google Shape;205;p24"/>
          <p:cNvSpPr/>
          <p:nvPr/>
        </p:nvSpPr>
        <p:spPr>
          <a:xfrm>
            <a:off x="3017520" y="548640"/>
            <a:ext cx="18288" cy="576072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3337560" y="64008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3337560" y="722430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4023360" y="658368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What Deck Machine Studio is</a:t>
            </a:r>
          </a:p>
        </p:txBody>
      </p:sp>
      <p:sp>
        <p:nvSpPr>
          <p:cNvPr id="209" name="Google Shape;209;p24"/>
          <p:cNvSpPr/>
          <p:nvPr/>
        </p:nvSpPr>
        <p:spPr>
          <a:xfrm>
            <a:off x="3337560" y="1340249"/>
            <a:ext cx="830549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3337560" y="1449977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3337560" y="1532327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4023360" y="1468265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Studio vs Cursor — two surfaces</a:t>
            </a:r>
          </a:p>
        </p:txBody>
      </p:sp>
      <p:sp>
        <p:nvSpPr>
          <p:cNvPr id="213" name="Google Shape;213;p24"/>
          <p:cNvSpPr/>
          <p:nvPr/>
        </p:nvSpPr>
        <p:spPr>
          <a:xfrm>
            <a:off x="3337560" y="2150146"/>
            <a:ext cx="830549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3337560" y="225987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3337560" y="2342224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4023360" y="2278162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How packaging works</a:t>
            </a:r>
          </a:p>
        </p:txBody>
      </p:sp>
      <p:sp>
        <p:nvSpPr>
          <p:cNvPr id="217" name="Google Shape;217;p24"/>
          <p:cNvSpPr/>
          <p:nvPr/>
        </p:nvSpPr>
        <p:spPr>
          <a:xfrm>
            <a:off x="3337560" y="2960043"/>
            <a:ext cx="830549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3337560" y="3069771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3337560" y="3152121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4023360" y="3088059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What ships in the zip</a:t>
            </a:r>
          </a:p>
        </p:txBody>
      </p:sp>
      <p:sp>
        <p:nvSpPr>
          <p:cNvPr id="221" name="Google Shape;221;p24"/>
          <p:cNvSpPr/>
          <p:nvPr/>
        </p:nvSpPr>
        <p:spPr>
          <a:xfrm>
            <a:off x="3337560" y="3769940"/>
            <a:ext cx="830549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3337560" y="3879668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337560" y="3962018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4023360" y="3897956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The live demo loop</a:t>
            </a:r>
          </a:p>
        </p:txBody>
      </p:sp>
      <p:sp>
        <p:nvSpPr>
          <p:cNvPr id="225" name="Google Shape;225;p24"/>
          <p:cNvSpPr/>
          <p:nvPr/>
        </p:nvSpPr>
        <p:spPr>
          <a:xfrm>
            <a:off x="3337560" y="4579837"/>
            <a:ext cx="830549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3337560" y="4689565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3337560" y="4771915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4023360" y="4707853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How ADMs should use it day-of</a:t>
            </a:r>
          </a:p>
        </p:txBody>
      </p:sp>
      <p:sp>
        <p:nvSpPr>
          <p:cNvPr id="229" name="Google Shape;229;p24"/>
          <p:cNvSpPr/>
          <p:nvPr/>
        </p:nvSpPr>
        <p:spPr>
          <a:xfrm>
            <a:off x="3337560" y="5389734"/>
            <a:ext cx="830549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3337560" y="5499462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3337560" y="5581812"/>
            <a:ext cx="45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4023360" y="5517750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Teaching modules and next steps</a:t>
            </a:r>
          </a:p>
        </p:txBody>
      </p:sp>
      <p:sp>
        <p:nvSpPr>
          <p:cNvPr id="233" name="Google Shape;233;p2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Deck Machine Studio  ·  ADM enablement  ·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" name="Google Shape;238;p25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</a:t>
            </a:r>
          </a:p>
        </p:txBody>
      </p:sp>
      <p:sp>
        <p:nvSpPr>
          <p:cNvPr id="240" name="Google Shape;240;p25"/>
          <p:cNvSpPr txBox="1"/>
          <p:nvPr/>
        </p:nvSpPr>
        <p:spPr>
          <a:xfrm>
            <a:off x="777240" y="3291840"/>
            <a:ext cx="792460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What it 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34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Studio packages. Cursor is where the demo runs.</a:t>
            </a:r>
          </a:p>
        </p:txBody>
      </p:sp>
      <p:sp>
        <p:nvSpPr>
          <p:cNvPr id="425" name="Google Shape;425;p34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One sentence positioning</a:t>
            </a:r>
          </a:p>
        </p:txBody>
      </p:sp>
      <p:sp>
        <p:nvSpPr>
          <p:cNvPr id="426" name="Google Shape;426;p34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Deck Machine Studio is an ADM tool that encodes a customer brand into a downloadable Cursor project. The customer opens that zip in Cursor and runs skills — brief in chat, branded PPTX out. You are not selling a PowerPoint SaaS.</a:t>
            </a:r>
          </a:p>
        </p:txBody>
      </p:sp>
      <p:pic>
        <p:nvPicPr>
          <p:cNvPr id="430" name="Picture 429" descr="landscape-10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97" y="6345936"/>
            <a:ext cx="1410557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35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The product is a repeatable Cursor factory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Proof, not the pitch</a:t>
            </a:r>
          </a:p>
        </p:txBody>
      </p:sp>
      <p:sp>
        <p:nvSpPr>
          <p:cNvPr id="435" name="Google Shape;435;p35"/>
          <p:cNvSpPr/>
          <p:nvPr/>
        </p:nvSpPr>
        <p:spPr>
          <a:xfrm>
            <a:off x="548640" y="1353312"/>
            <a:ext cx="1109441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EE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Rules stay on (brand). Skills are the buttons (/create-brief, /build-deck). Agents run the pipeline behind those skills. The PPTX proves those primitives work together — Lab 4 proves the champion learned them.</a:t>
            </a:r>
          </a:p>
        </p:txBody>
      </p:sp>
      <p:pic>
        <p:nvPicPr>
          <p:cNvPr descr="WORDMARK_DARK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34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Two jobs ADMs hire this system for</a:t>
            </a:r>
          </a:p>
        </p:txBody>
      </p:sp>
      <p:sp>
        <p:nvSpPr>
          <p:cNvPr id="425" name="Google Shape;425;p34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Package and teach</a:t>
            </a:r>
          </a:p>
        </p:txBody>
      </p:sp>
      <p:sp>
        <p:nvSpPr>
          <p:cNvPr id="426" name="Google Shape;426;p34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Package — Find account → encode brand → download &lt;slug&gt;-deck-machine.zip. Teach — run the leave-behind live, then optional curriculum sidebars (CLI, tokens, privacy) from the field kit. Hub Studio can assemble blocks later; content comes first.</a:t>
            </a:r>
          </a:p>
        </p:txBody>
      </p:sp>
      <p:pic>
        <p:nvPicPr>
          <p:cNvPr id="430" name="Picture 429" descr="landscape-10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97" y="6345936"/>
            <a:ext cx="1410557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" name="Google Shape;238;p25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2</a:t>
            </a:r>
          </a:p>
        </p:txBody>
      </p:sp>
      <p:sp>
        <p:nvSpPr>
          <p:cNvPr id="240" name="Google Shape;240;p25"/>
          <p:cNvSpPr txBox="1"/>
          <p:nvPr/>
        </p:nvSpPr>
        <p:spPr>
          <a:xfrm>
            <a:off x="777240" y="3291840"/>
            <a:ext cx="792460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How it works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2" name="Google Shape;272;p27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01</a:t>
            </a:r>
          </a:p>
        </p:txBody>
      </p:sp>
      <p:sp>
        <p:nvSpPr>
          <p:cNvPr id="274" name="Google Shape;274;p27"/>
          <p:cNvSpPr txBox="1"/>
          <p:nvPr/>
        </p:nvSpPr>
        <p:spPr>
          <a:xfrm>
            <a:off x="777240" y="3291840"/>
            <a:ext cx="792460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Package leave-behind</a:t>
            </a:r>
          </a:p>
        </p:txBody>
      </p:sp>
      <p:pic>
        <p:nvPicPr>
          <p:cNvPr id="277" name="Picture 276" descr="landscape-10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35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Find account → encode brand → download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Studio wizard</a:t>
            </a:r>
          </a:p>
        </p:txBody>
      </p:sp>
      <p:sp>
        <p:nvSpPr>
          <p:cNvPr id="435" name="Google Shape;435;p35"/>
          <p:cNvSpPr/>
          <p:nvPr/>
        </p:nvSpPr>
        <p:spPr>
          <a:xfrm>
            <a:off x="548640" y="1353312"/>
            <a:ext cx="1109441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EE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Find the account (Databricks when configured, or Brandfetch / manual). Encode palette, voice, logos, layout style. Download the zip. Mission control opens with the checklist — demo paste, slash commands, Lab 4, email handoff.</a:t>
            </a:r>
          </a:p>
        </p:txBody>
      </p:sp>
      <p:pic>
        <p:nvPicPr>
          <p:cNvPr descr="WORDMARK_DARK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34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What the customer receives</a:t>
            </a:r>
          </a:p>
        </p:txBody>
      </p:sp>
      <p:sp>
        <p:nvSpPr>
          <p:cNvPr id="425" name="Google Shape;425;p34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Inside the zip</a:t>
            </a:r>
          </a:p>
        </p:txBody>
      </p:sp>
      <p:sp>
        <p:nvSpPr>
          <p:cNvPr id="426" name="Google Shape;426;p34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Brand pack + always-on brand rule. Deck workflow rule. Skills under / (create-brief, build-deck, brand-check, export-pptx, and more). Agents that run behind the skills. Bundled Office exporters — no npm install. Teaching docs: Lab 4, decision tree, after-the-demo.</a:t>
            </a:r>
          </a:p>
        </p:txBody>
      </p:sp>
      <p:pic>
        <p:nvPicPr>
          <p:cNvPr id="430" name="Picture 429" descr="landscape-101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97" y="6345936"/>
            <a:ext cx="1410557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2" name="Google Shape;272;p27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02</a:t>
            </a:r>
          </a:p>
        </p:txBody>
      </p:sp>
      <p:sp>
        <p:nvSpPr>
          <p:cNvPr id="274" name="Google Shape;274;p27"/>
          <p:cNvSpPr txBox="1"/>
          <p:nvPr/>
        </p:nvSpPr>
        <p:spPr>
          <a:xfrm>
            <a:off x="777240" y="3291840"/>
            <a:ext cx="792460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Live demo loop</a:t>
            </a:r>
          </a:p>
        </p:txBody>
      </p:sp>
      <p:pic>
        <p:nvPicPr>
          <p:cNvPr id="277" name="Picture 276" descr="landscape-10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715" y="6236200"/>
            <a:ext cx="997786" cy="237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35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Talk or paste → brief → branded PPTX → Lab 4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 Cursor, together</a:t>
            </a:r>
          </a:p>
        </p:txBody>
      </p:sp>
      <p:sp>
        <p:nvSpPr>
          <p:cNvPr id="435" name="Google Shape;435;p35"/>
          <p:cNvSpPr/>
          <p:nvPr/>
        </p:nvSpPr>
        <p:spPr>
          <a:xfrm>
            <a:off x="548640" y="1353312"/>
            <a:ext cx="1109441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EE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Open the unzipped folder in Cursor. /create-brief with a real upcoming meeting. /build-deck brief.md — pick up output/*.pptx. Change one headline → /export-pptx. Required exit: Lab 4 in docs/primitives-lab.md (bad headline → /brand-check → fix).</a:t>
            </a:r>
          </a:p>
        </p:txBody>
      </p:sp>
      <p:pic>
        <p:nvPicPr>
          <p:cNvPr descr="WORDMARK_DARK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34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Quality gates travel with the repo</a:t>
            </a:r>
          </a:p>
        </p:txBody>
      </p:sp>
      <p:sp>
        <p:nvSpPr>
          <p:cNvPr id="425" name="Google Shape;425;p34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Before anything leaves the room</a:t>
            </a:r>
          </a:p>
        </p:txBody>
      </p:sp>
      <p:sp>
        <p:nvSpPr>
          <p:cNvPr id="426" name="Google Shape;426;p34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/brand-check runs brand-guardian against the brand rule. /deck-score catches thin structure (CLI-friendly). Same story in the IDE or with agent -p. That is governance of their artifact — separate from vendor Privacy Mode.</a:t>
            </a:r>
          </a:p>
        </p:txBody>
      </p:sp>
      <p:pic>
        <p:nvPicPr>
          <p:cNvPr id="430" name="Picture 429" descr="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97" y="6345936"/>
            <a:ext cx="1410557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" name="Google Shape;238;p25"/>
          <p:cNvSpPr/>
          <p:nvPr/>
        </p:nvSpPr>
        <p:spPr>
          <a:xfrm>
            <a:off x="548640" y="1463040"/>
            <a:ext cx="45720" cy="3840480"/>
          </a:xfrm>
          <a:prstGeom prst="rect">
            <a:avLst/>
          </a:prstGeom>
          <a:solidFill>
            <a:srgbClr val="B8B8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777240" y="10972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3</a:t>
            </a:r>
          </a:p>
        </p:txBody>
      </p:sp>
      <p:sp>
        <p:nvSpPr>
          <p:cNvPr id="240" name="Google Shape;240;p25"/>
          <p:cNvSpPr txBox="1"/>
          <p:nvPr/>
        </p:nvSpPr>
        <p:spPr>
          <a:xfrm>
            <a:off x="777240" y="3291840"/>
            <a:ext cx="792460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How ADMs</a:t>
            </a:r>
          </a:p>
          <a:p>
            <a:r>
              <a:t>should use 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35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Before the call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Night before or morning of</a:t>
            </a:r>
          </a:p>
        </p:txBody>
      </p:sp>
      <p:sp>
        <p:nvSpPr>
          <p:cNvPr id="435" name="Google Shape;435;p35"/>
          <p:cNvSpPr/>
          <p:nvPr/>
        </p:nvSpPr>
        <p:spPr>
          <a:xfrm>
            <a:off x="548640" y="1353312"/>
            <a:ext cx="1109441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EE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Package or resume the account in Studio. Optional: run Rehearse (~5 min). Keep Talk track open. If you will teach CLI, tokens, or privacy: npm run field-kit in this repo and open the matching talk-track.md — those modules are not in the zip picker.</a:t>
            </a:r>
          </a:p>
        </p:txBody>
      </p:sp>
      <p:pic>
        <p:nvPicPr>
          <p:cNvPr descr="WORDMARK_DARK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34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 the room</a:t>
            </a:r>
          </a:p>
        </p:txBody>
      </p:sp>
      <p:sp>
        <p:nvSpPr>
          <p:cNvPr id="425" name="Google Shape;425;p34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Lead with primitives</a:t>
            </a:r>
          </a:p>
        </p:txBody>
      </p:sp>
      <p:sp>
        <p:nvSpPr>
          <p:cNvPr id="426" name="Google Shape;426;p34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Unzip → open in Cursor → narrate rules loading → /create-brief → /build-deck → Lab 4. Say: customers leave with a working Cursor repo tailored to their brand. Don't say: new AI tool, IT procurement, or learn the brief template by hand.</a:t>
            </a:r>
          </a:p>
        </p:txBody>
      </p:sp>
      <p:pic>
        <p:nvPicPr>
          <p:cNvPr id="430" name="Picture 429" descr="landscape-10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97" y="6345936"/>
            <a:ext cx="1410557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35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After download — Mission control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Checklist + email handoff</a:t>
            </a:r>
          </a:p>
        </p:txBody>
      </p:sp>
      <p:sp>
        <p:nvSpPr>
          <p:cNvPr id="435" name="Google Shape;435;p35"/>
          <p:cNvSpPr/>
          <p:nvPr/>
        </p:nvSpPr>
        <p:spPr>
          <a:xfrm>
            <a:off x="548640" y="1353312"/>
            <a:ext cx="1109441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EE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Work the Mission control steps live. Copy the email blurb for the champion (unzip, skills path, Lab 4, docs/after-the-demo.md). Prefer email over Slack paste — many customer accounts are not on Slack.</a:t>
            </a:r>
          </a:p>
        </p:txBody>
      </p:sp>
      <p:pic>
        <p:nvPicPr>
          <p:cNvPr descr="WORDMARK_DARK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34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Teaching modules live in the field kit</a:t>
            </a:r>
          </a:p>
        </p:txBody>
      </p:sp>
      <p:sp>
        <p:nvSpPr>
          <p:cNvPr id="425" name="Google Shape;425;p34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Content blocks, not a Hub library</a:t>
            </a:r>
          </a:p>
        </p:txBody>
      </p:sp>
      <p:sp>
        <p:nvSpPr>
          <p:cNvPr id="426" name="Google Shape;426;p34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1616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Versioned jobs under content-blocks/: Lab 4, brand tokens, scorecard, Cursor CLI, token budget, privacy + review. Assemble with npm run assemble:blocks or npm run assemble:standard. Day-of: docs/adm-field-kit.md. Studio Help → Teaching modules (field kit).</a:t>
            </a:r>
          </a:p>
        </p:txBody>
      </p:sp>
      <p:pic>
        <p:nvPicPr>
          <p:cNvPr id="430" name="Picture 429" descr="101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97" y="6345936"/>
            <a:ext cx="1410557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35"/>
          <p:cNvSpPr txBox="1"/>
          <p:nvPr/>
        </p:nvSpPr>
        <p:spPr>
          <a:xfrm>
            <a:off x="548640" y="411480"/>
            <a:ext cx="853418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Regenerate vs edit — set expectations</a:t>
            </a:r>
          </a:p>
        </p:txBody>
      </p:sp>
      <p:sp>
        <p:nvSpPr>
          <p:cNvPr id="434" name="Google Shape;434;p35"/>
          <p:cNvSpPr txBox="1"/>
          <p:nvPr/>
        </p:nvSpPr>
        <p:spPr>
          <a:xfrm>
            <a:off x="548640" y="1005840"/>
            <a:ext cx="853418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Day 2 ownership</a:t>
            </a:r>
          </a:p>
        </p:txBody>
      </p:sp>
      <p:sp>
        <p:nvSpPr>
          <p:cNvPr id="435" name="Google Shape;435;p35"/>
          <p:cNvSpPr/>
          <p:nvPr/>
        </p:nvSpPr>
        <p:spPr>
          <a:xfrm>
            <a:off x="548640" y="1353312"/>
            <a:ext cx="11094415" cy="6350"/>
          </a:xfrm>
          <a:prstGeom prst="rect">
            <a:avLst/>
          </a:prstGeom>
          <a:solidFill>
            <a:srgbClr val="E7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solidFill>
            <a:srgbClr val="EE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Champion owns the Git home. Brand or layout style changes → regenerate zip from Studio. One headline → /revise-deck → /export-pptx. Point them at docs/after-the-demo.md before you leave so ownership is clear.</a:t>
            </a:r>
          </a:p>
        </p:txBody>
      </p:sp>
      <p:pic>
        <p:nvPicPr>
          <p:cNvPr descr="WORDMARK_DARK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497" y="6345936"/>
            <a:ext cx="1410557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the zip.</a:t>
            </a:r>
          </a:p>
          <a:p>
            <a:r>
              <a:t>Run the factory.</a:t>
            </a:r>
          </a:p>
          <a:p>
            <a:r>
              <a:t>Leave Lab 4.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B0B0C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